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9" r:id="rId3"/>
    <p:sldId id="258" r:id="rId4"/>
    <p:sldId id="281" r:id="rId5"/>
    <p:sldId id="280" r:id="rId6"/>
    <p:sldId id="277" r:id="rId7"/>
  </p:sldIdLst>
  <p:sldSz cx="18288000" cy="10287000"/>
  <p:notesSz cx="6858000" cy="9144000"/>
  <p:embeddedFontLst>
    <p:embeddedFont>
      <p:font typeface="Times New Roman Bold" panose="02020803070505020304" pitchFamily="18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566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94215" y="1626231"/>
            <a:ext cx="13716000" cy="4112966"/>
            <a:chOff x="0" y="0"/>
            <a:chExt cx="18288000" cy="5483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8000" cy="5483955"/>
            </a:xfrm>
            <a:custGeom>
              <a:avLst/>
              <a:gdLst/>
              <a:ahLst/>
              <a:cxnLst/>
              <a:rect l="l" t="t" r="r" b="b"/>
              <a:pathLst>
                <a:path w="18288000" h="5483955">
                  <a:moveTo>
                    <a:pt x="0" y="0"/>
                  </a:moveTo>
                  <a:lnTo>
                    <a:pt x="18288000" y="0"/>
                  </a:lnTo>
                  <a:lnTo>
                    <a:pt x="18288000" y="5483955"/>
                  </a:lnTo>
                  <a:lnTo>
                    <a:pt x="0" y="54839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8288000" cy="554110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144"/>
                </a:lnSpc>
              </a:pPr>
              <a:endParaRPr dirty="0"/>
            </a:p>
            <a:p>
              <a:pPr algn="ctr">
                <a:lnSpc>
                  <a:spcPts val="7144"/>
                </a:lnSpc>
              </a:pPr>
              <a:endParaRPr dirty="0"/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Major Project Presentation</a:t>
              </a:r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 </a:t>
              </a:r>
            </a:p>
            <a:p>
              <a:pPr algn="ctr">
                <a:lnSpc>
                  <a:spcPts val="5248"/>
                </a:lnSpc>
              </a:pP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“</a:t>
              </a:r>
              <a:r>
                <a:rPr lang="en-US" sz="4859" b="1" dirty="0">
                  <a:solidFill>
                    <a:srgbClr val="FF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XYZ</a:t>
              </a:r>
              <a:r>
                <a:rPr lang="en-US" sz="4859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”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303395" y="5972161"/>
            <a:ext cx="9117327" cy="2483643"/>
            <a:chOff x="0" y="0"/>
            <a:chExt cx="12156436" cy="33115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156436" cy="3311524"/>
            </a:xfrm>
            <a:custGeom>
              <a:avLst/>
              <a:gdLst/>
              <a:ahLst/>
              <a:cxnLst/>
              <a:rect l="l" t="t" r="r" b="b"/>
              <a:pathLst>
                <a:path w="12156436" h="3311524">
                  <a:moveTo>
                    <a:pt x="0" y="0"/>
                  </a:moveTo>
                  <a:lnTo>
                    <a:pt x="12156436" y="0"/>
                  </a:lnTo>
                  <a:lnTo>
                    <a:pt x="12156436" y="3311524"/>
                  </a:lnTo>
                  <a:lnTo>
                    <a:pt x="0" y="33115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156436" cy="334009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Presented By	-</a:t>
              </a:r>
            </a:p>
            <a:p>
              <a:pPr algn="ctr">
                <a:lnSpc>
                  <a:spcPts val="3402"/>
                </a:lnSpc>
              </a:pPr>
              <a:endPara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3240"/>
                </a:lnSpc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Name                              PRN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303395" y="1626231"/>
            <a:ext cx="11594520" cy="969496"/>
            <a:chOff x="0" y="0"/>
            <a:chExt cx="15459360" cy="12926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459360" cy="1292662"/>
            </a:xfrm>
            <a:custGeom>
              <a:avLst/>
              <a:gdLst/>
              <a:ahLst/>
              <a:cxnLst/>
              <a:rect l="l" t="t" r="r" b="b"/>
              <a:pathLst>
                <a:path w="15459360" h="1292662">
                  <a:moveTo>
                    <a:pt x="0" y="0"/>
                  </a:moveTo>
                  <a:lnTo>
                    <a:pt x="15459360" y="0"/>
                  </a:lnTo>
                  <a:lnTo>
                    <a:pt x="15459360" y="1292662"/>
                  </a:lnTo>
                  <a:lnTo>
                    <a:pt x="0" y="1292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5459360" cy="13974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 Computer Engineering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543470" y="-24085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CB38-C117-5D0E-DFD1-68E1C54B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95E019-86E4-5F42-4FF6-904E8406FB82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555E01-211D-CEAB-A20E-858F8E66FBB7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358387-B181-898D-297B-F739EE3A2606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Contents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454B28C-EB6F-D3E1-C3B3-D690F1C1B7E4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7CDDF-0385-D3AC-E7C9-F370C09794D0}"/>
              </a:ext>
            </a:extLst>
          </p:cNvPr>
          <p:cNvSpPr txBox="1"/>
          <p:nvPr/>
        </p:nvSpPr>
        <p:spPr>
          <a:xfrm>
            <a:off x="1267132" y="1562100"/>
            <a:ext cx="1356360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the Models ( from Literature Review)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Software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Cost Estimation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7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301568"/>
              </p:ext>
            </p:extLst>
          </p:nvPr>
        </p:nvGraphicFramePr>
        <p:xfrm>
          <a:off x="1123950" y="2799518"/>
          <a:ext cx="16135350" cy="5510212"/>
        </p:xfrm>
        <a:graphic>
          <a:graphicData uri="http://schemas.openxmlformats.org/drawingml/2006/table">
            <a:tbl>
              <a:tblPr/>
              <a:tblGrid>
                <a:gridCol w="268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24922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and Year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and Working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290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</a:pPr>
                      <a:endParaRPr lang="en-US" sz="249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Freeform 9"/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9983-FD73-31B1-1483-B7D585A1F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8998071-8787-CDA1-2EAE-54176AECA3EA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7CF1B35-16F0-7EA4-7B55-CAAB26B48582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BF0CFC-FA2E-E7AB-3422-460C444806F2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Comparison of the Models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6159EE-2DDB-F164-C40C-8DBF7577F941}"/>
              </a:ext>
            </a:extLst>
          </p:cNvPr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C73DC02-3FAD-5FAD-CF54-DDDFE4257318}"/>
                </a:ext>
              </a:extLst>
            </p:cNvPr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55EF06E-1B53-C13D-E51F-13CA608ED6FE}"/>
                </a:ext>
              </a:extLst>
            </p:cNvPr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CBFB9B7-3DC3-7F18-C78E-CFE1A34DEA03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A9A4F5-A143-2DCF-CBA6-9EC1F053C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367353"/>
              </p:ext>
            </p:extLst>
          </p:nvPr>
        </p:nvGraphicFramePr>
        <p:xfrm>
          <a:off x="1080319" y="3050257"/>
          <a:ext cx="14782800" cy="500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1682">
                  <a:extLst>
                    <a:ext uri="{9D8B030D-6E8A-4147-A177-3AD203B41FA5}">
                      <a16:colId xmlns:a16="http://schemas.microsoft.com/office/drawing/2014/main" val="3902624470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689955582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4131312221"/>
                    </a:ext>
                  </a:extLst>
                </a:gridCol>
                <a:gridCol w="2641682">
                  <a:extLst>
                    <a:ext uri="{9D8B030D-6E8A-4147-A177-3AD203B41FA5}">
                      <a16:colId xmlns:a16="http://schemas.microsoft.com/office/drawing/2014/main" val="3640741046"/>
                    </a:ext>
                  </a:extLst>
                </a:gridCol>
                <a:gridCol w="2009223">
                  <a:extLst>
                    <a:ext uri="{9D8B030D-6E8A-4147-A177-3AD203B41FA5}">
                      <a16:colId xmlns:a16="http://schemas.microsoft.com/office/drawing/2014/main" val="3150819546"/>
                    </a:ext>
                  </a:extLst>
                </a:gridCol>
                <a:gridCol w="2206849">
                  <a:extLst>
                    <a:ext uri="{9D8B030D-6E8A-4147-A177-3AD203B41FA5}">
                      <a16:colId xmlns:a16="http://schemas.microsoft.com/office/drawing/2014/main" val="1407909941"/>
                    </a:ext>
                  </a:extLst>
                </a:gridCol>
              </a:tblGrid>
              <a:tr h="500388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F1-Score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42516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54BB8D-3D53-2162-6930-DC5A3BE2F8DA}"/>
              </a:ext>
            </a:extLst>
          </p:cNvPr>
          <p:cNvSpPr txBox="1"/>
          <p:nvPr/>
        </p:nvSpPr>
        <p:spPr>
          <a:xfrm>
            <a:off x="1371600" y="1965302"/>
            <a:ext cx="9942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Sample given for DL  models</a:t>
            </a:r>
          </a:p>
          <a:p>
            <a:r>
              <a:rPr lang="en-IN" dirty="0">
                <a:solidFill>
                  <a:srgbClr val="FF0000"/>
                </a:solidFill>
              </a:rPr>
              <a:t>You can show your comparisons on the methods and results studied from the papers in </a:t>
            </a:r>
            <a:r>
              <a:rPr lang="en-IN" dirty="0" err="1">
                <a:solidFill>
                  <a:srgbClr val="FF0000"/>
                </a:solidFill>
              </a:rPr>
              <a:t>Lterature</a:t>
            </a:r>
            <a:r>
              <a:rPr lang="en-IN" dirty="0">
                <a:solidFill>
                  <a:srgbClr val="FF0000"/>
                </a:solidFill>
              </a:rPr>
              <a:t> Survey</a:t>
            </a:r>
          </a:p>
        </p:txBody>
      </p:sp>
    </p:spTree>
    <p:extLst>
      <p:ext uri="{BB962C8B-B14F-4D97-AF65-F5344CB8AC3E}">
        <p14:creationId xmlns:p14="http://schemas.microsoft.com/office/powerpoint/2010/main" val="212174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5D35-B8BA-F411-A4BA-E5C613E1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20802F-8614-3DB0-1643-3332D7EDDA22}"/>
              </a:ext>
            </a:extLst>
          </p:cNvPr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B61F41E-321B-A2D5-9EDA-2C852D7CD7D9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11309E5-E796-AD01-FA89-8D466BE4B3E7}"/>
                </a:ext>
              </a:extLst>
            </p:cNvPr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Hardware Cost Estimation</a:t>
              </a: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E43ACDD-56E7-89DE-3C7D-B3B7CE1EBA1B}"/>
              </a:ext>
            </a:extLst>
          </p:cNvPr>
          <p:cNvGrpSpPr/>
          <p:nvPr/>
        </p:nvGrpSpPr>
        <p:grpSpPr>
          <a:xfrm>
            <a:off x="6057900" y="9534525"/>
            <a:ext cx="6172200" cy="547688"/>
            <a:chOff x="0" y="0"/>
            <a:chExt cx="8229600" cy="73025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FEAED8F-BCC5-F5CA-9A25-96DA4761D688}"/>
                </a:ext>
              </a:extLst>
            </p:cNvPr>
            <p:cNvSpPr/>
            <p:nvPr/>
          </p:nvSpPr>
          <p:spPr>
            <a:xfrm>
              <a:off x="0" y="0"/>
              <a:ext cx="8229600" cy="730250"/>
            </a:xfrm>
            <a:custGeom>
              <a:avLst/>
              <a:gdLst/>
              <a:ahLst/>
              <a:cxnLst/>
              <a:rect l="l" t="t" r="r" b="b"/>
              <a:pathLst>
                <a:path w="8229600" h="73025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0017BF8-4FB3-3B91-F0F0-5B813DC2FF54}"/>
                </a:ext>
              </a:extLst>
            </p:cNvPr>
            <p:cNvSpPr txBox="1"/>
            <p:nvPr/>
          </p:nvSpPr>
          <p:spPr>
            <a:xfrm>
              <a:off x="0" y="-38100"/>
              <a:ext cx="82296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76767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Computer Engineering</a:t>
              </a:r>
            </a:p>
          </p:txBody>
        </p:sp>
      </p:grp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49F46F7-063A-18B3-FEA8-276459EFA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61060"/>
              </p:ext>
            </p:extLst>
          </p:nvPr>
        </p:nvGraphicFramePr>
        <p:xfrm>
          <a:off x="1123950" y="2799519"/>
          <a:ext cx="13446125" cy="4590846"/>
        </p:xfrm>
        <a:graphic>
          <a:graphicData uri="http://schemas.openxmlformats.org/drawingml/2006/table">
            <a:tbl>
              <a:tblPr/>
              <a:tblGrid>
                <a:gridCol w="268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8284"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lang="en-US" sz="110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  <a:sym typeface="Times New Roman"/>
                        </a:rPr>
                        <a:t>Name of the component</a:t>
                      </a:r>
                      <a:endParaRPr lang="en-US" sz="1100" dirty="0"/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2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Times New Roman"/>
                        </a:rPr>
                        <a:t>Total cost per Quantity</a:t>
                      </a: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  <a:sym typeface="Times New Roman"/>
                        </a:rPr>
                        <a:t>Quantity</a:t>
                      </a:r>
                      <a:endParaRPr lang="en-US" sz="2700" kern="1200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3240"/>
                        </a:lnSpc>
                        <a:defRPr/>
                      </a:pPr>
                      <a:r>
                        <a:rPr lang="en-US" sz="2700" kern="1200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Total Price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922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2922">
                <a:tc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607022"/>
                  </a:ext>
                </a:extLst>
              </a:tr>
              <a:tr h="1062922">
                <a:tc gridSpan="4">
                  <a:txBody>
                    <a:bodyPr/>
                    <a:lstStyle/>
                    <a:p>
                      <a:pPr algn="l">
                        <a:lnSpc>
                          <a:spcPts val="4199"/>
                        </a:lnSpc>
                        <a:defRPr/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 of the Hardware required</a:t>
                      </a: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3388372"/>
                  </a:ext>
                </a:extLst>
              </a:tr>
            </a:tbl>
          </a:graphicData>
        </a:graphic>
      </p:graphicFrame>
      <p:sp>
        <p:nvSpPr>
          <p:cNvPr id="9" name="Freeform 9">
            <a:extLst>
              <a:ext uri="{FF2B5EF4-FFF2-40B4-BE49-F238E27FC236}">
                <a16:creationId xmlns:a16="http://schemas.microsoft.com/office/drawing/2014/main" id="{359F2BB3-0FD4-5535-95AD-5826D5480076}"/>
              </a:ext>
            </a:extLst>
          </p:cNvPr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0"/>
            <a:ext cx="15773400" cy="1988344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031200" cy="2708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 ( IEEE Format)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270511" y="81329"/>
            <a:ext cx="4017489" cy="1650316"/>
          </a:xfrm>
          <a:custGeom>
            <a:avLst/>
            <a:gdLst/>
            <a:ahLst/>
            <a:cxnLst/>
            <a:rect l="l" t="t" r="r" b="b"/>
            <a:pathLst>
              <a:path w="4017489" h="1650316">
                <a:moveTo>
                  <a:pt x="0" y="0"/>
                </a:moveTo>
                <a:lnTo>
                  <a:pt x="4017489" y="0"/>
                </a:lnTo>
                <a:lnTo>
                  <a:pt x="4017489" y="1650316"/>
                </a:lnTo>
                <a:lnTo>
                  <a:pt x="0" y="1650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138</Words>
  <Application>Microsoft Office PowerPoint</Application>
  <PresentationFormat>Custom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 Bold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VCare_main_ppt _format.pptx</dc:title>
  <cp:lastModifiedBy>Arathi Boyanapalli</cp:lastModifiedBy>
  <cp:revision>3</cp:revision>
  <dcterms:created xsi:type="dcterms:W3CDTF">2006-08-16T00:00:00Z</dcterms:created>
  <dcterms:modified xsi:type="dcterms:W3CDTF">2025-07-21T09:08:10Z</dcterms:modified>
  <dc:identifier>DAGlh3UuUZU</dc:identifier>
</cp:coreProperties>
</file>